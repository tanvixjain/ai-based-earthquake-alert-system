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FC2-48BA-A2AA-9CE7F087E1B1}"/>
              </c:ext>
            </c:extLst>
          </c:dPt>
          <c:dPt>
            <c:idx val="1"/>
            <c:invertIfNegative val="0"/>
            <c:bubble3D val="0"/>
            <c:spPr>
              <a:solidFill>
                <a:srgbClr val="FFC1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C2-48BA-A2AA-9CE7F087E1B1}"/>
              </c:ext>
            </c:extLst>
          </c:dPt>
          <c:dPt>
            <c:idx val="2"/>
            <c:invertIfNegative val="0"/>
            <c:bubble3D val="0"/>
            <c:spPr>
              <a:solidFill>
                <a:srgbClr val="FF9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C2-48BA-A2AA-9CE7F087E1B1}"/>
              </c:ext>
            </c:extLst>
          </c:dPt>
          <c:dPt>
            <c:idx val="3"/>
            <c:invertIfNegative val="0"/>
            <c:bubble3D val="0"/>
            <c:spPr>
              <a:solidFill>
                <a:srgbClr val="F443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FC2-48BA-A2AA-9CE7F087E1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24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Moderate</c:v>
                </c:pt>
                <c:pt idx="1">
                  <c:v>Strong</c:v>
                </c:pt>
                <c:pt idx="2">
                  <c:v>Major</c:v>
                </c:pt>
                <c:pt idx="3">
                  <c:v>Great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17495</c:v>
                </c:pt>
                <c:pt idx="1">
                  <c:v>4999</c:v>
                </c:pt>
                <c:pt idx="2">
                  <c:v>698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C2-48BA-A2AA-9CE7F087E1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F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7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F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617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lobal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685800"/>
            <a:ext cx="5806440" cy="32644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868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542289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Earthquake</a:t>
            </a:r>
            <a:endParaRPr lang="en-US" sz="4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System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204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AIoT-driven system for real-time seismic event classification and role-based alert delivery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4526280"/>
            <a:ext cx="4937760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7091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292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Tanvi Jain RA2311003010560</a:t>
            </a:r>
          </a:p>
          <a:p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Akshit Sharma RA2311003011096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3492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 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Technology, Chennai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404164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USGS National Earthquake Information Center · Significant Earthquakes 1965–2016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 decide outcomes - and current alerting is too slow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8123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6642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warning window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84248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shaking often arrives only seconds after initial detection, leaving little time for manual response chains to act.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70632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9" name="Image 1" descr="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2891333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7432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severity classification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0632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regions rely on manual review or raw magnitude alone, without a structured, automated severity-tiering process.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849624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3" name="Image 2" descr="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970325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8221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location are under-used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14223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(magnitude-only) alerts ignore depth and geographic context, both of which strongly affect real surface impact.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7" name="Image 3" descr="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049317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90118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stakeholders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5221224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Citizens, field operators, and administrators lack a shared, auditable system for tracking alerts from detection to resolution.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635240" y="1691640"/>
            <a:ext cx="3977640" cy="4434840"/>
          </a:xfrm>
          <a:prstGeom prst="roundRect">
            <a:avLst>
              <a:gd name="adj" fmla="val 2299"/>
            </a:avLst>
          </a:prstGeom>
          <a:solidFill>
            <a:srgbClr val="1B1F26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90956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7909560" y="22677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society-oriented system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909560" y="25146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 remain one of the deadliest natural hazards globally, with damage severity closely tied to how quickly warnings reach the public and responders. An AI-driven, role-based alert system directly reduces response delay for citizens, field operators, and disaster-management administrators alike — not a purely commercial or software-only exercise.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023860" y="4573866"/>
            <a:ext cx="3200400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001000" y="4827659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as an AIoT product: seismic event classification (AI) feeding a role-based web alert platform (software), extensible to sensor-fed ingestion (IoT).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9087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prior research establishes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23697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Mousavi &amp; Beroza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magnitude estimation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seismic waveform stations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ML can estimate magnitude reliably from early waveform features, ahead of full event resolution.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Apriani, Wijaya &amp; Daryono (2021)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Neural Net + 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Single-station raw seismograms (BMKG, Indonesia)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only 1s before / 3s after the P-wave was sufficient for fast magnitude estimation for early warning.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Wang, Li, Wang &amp; Liu — EEWNet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Convolutional Neural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KiK-net: 30,756 accelerograms, M4–9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Outperformed the traditional Pd method using just the initial 0.5–3s of recorded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Survey: ML for Magnitude Prediction (2024)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RF, SVM, CNN, LSTM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public seismic catalogs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scarce data and class imbalance as open challenges — directly relevant to this project's Alert_Level distribution.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1EC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949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519379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this project addresses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546811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concentrates on magnitude/intensity regression from raw waveforms at research-grade seismic networks. Few systems carry that output through to an end-to-end alert-tiering and role-based notification workflow for public and administrative use — the gap this project targets.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AF8F05-E0B6-43C7-56D8-11DEE71BF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733477"/>
              </p:ext>
            </p:extLst>
          </p:nvPr>
        </p:nvGraphicFramePr>
        <p:xfrm>
          <a:off x="879676" y="671332"/>
          <a:ext cx="11022764" cy="4391268"/>
        </p:xfrm>
        <a:graphic>
          <a:graphicData uri="http://schemas.openxmlformats.org/drawingml/2006/table">
            <a:tbl>
              <a:tblPr/>
              <a:tblGrid>
                <a:gridCol w="2335964">
                  <a:extLst>
                    <a:ext uri="{9D8B030D-6E8A-4147-A177-3AD203B41FA5}">
                      <a16:colId xmlns:a16="http://schemas.microsoft.com/office/drawing/2014/main" val="349112525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712582595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91505513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41897332"/>
                    </a:ext>
                  </a:extLst>
                </a:gridCol>
              </a:tblGrid>
              <a:tr h="620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212758"/>
                  </a:ext>
                </a:extLst>
              </a:tr>
              <a:tr h="9427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K. Jaiswal and D. Wald[2013]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magnitude estimation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USGS PAGER: Prompt Assessment of Global Earthquakes for Response</a:t>
                      </a:r>
                      <a:endParaRPr lang="en-US" sz="10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USGS system that estimates an earthquake's likely human and economic impact within roughly 30 minutes of the event, by combining shaking-intensity modeling</a:t>
                      </a:r>
                    </a:p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(ShakeMap), population exposure, and regional building-vulnerability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082558"/>
                  </a:ext>
                </a:extLst>
              </a:tr>
              <a:tr h="9427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Machine learning for earthquake damage classification (Nepal, 2015)</a:t>
                      </a:r>
                      <a:endParaRPr lang="en-US" sz="6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magnitude estimation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Study from RNS Institute of Technology,</a:t>
                      </a:r>
                    </a:p>
                    <a:p>
                      <a:r>
                        <a:rPr lang="en-IN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Bengaluru-data from Kathmandu</a:t>
                      </a:r>
                    </a:p>
                    <a:p>
                      <a:r>
                        <a:rPr lang="en-IN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Living Labs</a:t>
                      </a:r>
                      <a:endParaRPr lang="en-US" sz="10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Random Forest and Gradient Boosting classifiers to predict building</a:t>
                      </a:r>
                    </a:p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damage-grade severity after the 2015 Gorkha earthquake, using survey data from Kathmandu</a:t>
                      </a:r>
                    </a:p>
                    <a:p>
                      <a:r>
                        <a:rPr lang="en-IN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Living Labs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338345"/>
                  </a:ext>
                </a:extLst>
              </a:tr>
              <a:tr h="9427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E. R. Burkett, D. D. Given, and L. M. Jones[2014]- [</a:t>
                      </a:r>
                      <a:r>
                        <a:rPr lang="en-US" sz="105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ShakeAlert</a:t>
                      </a:r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US" sz="10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Distinguishing the two clarifies</a:t>
                      </a:r>
                    </a:p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exactly what category of “alert system” this project belongs to.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U.S. Geological Survey Fact Sheet 2014-3083, 2014.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Weaker </a:t>
                      </a:r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seismic waves and issues a warning before the more damaging shaking arrives, giving people</a:t>
                      </a:r>
                    </a:p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seconds to minutes of advance notice.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979518"/>
                  </a:ext>
                </a:extLst>
              </a:tr>
              <a:tr h="9427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USGS “Did You Feel It?” (DYFI)</a:t>
                      </a:r>
                      <a:endParaRPr lang="en-US" sz="10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IN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V. Quitoriano and D. J. Wald [2020]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felt (DYFI report count) and cdi</a:t>
                      </a:r>
                    </a:p>
                    <a:p>
                      <a:r>
                        <a:rPr lang="en-IN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(community-determined intensity)</a:t>
                      </a:r>
                      <a:endParaRPr lang="en-US" sz="105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Science and Lessons From 20 Years of Citizen</a:t>
                      </a:r>
                    </a:p>
                    <a:p>
                      <a:r>
                        <a:rPr lang="en-IN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Science-Based </a:t>
                      </a:r>
                      <a:r>
                        <a:rPr lang="en-IN" sz="105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Macroseismology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system for collecting </a:t>
                      </a:r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citizen-submitted shaking reports over the internet, which has amassed over five million individual</a:t>
                      </a:r>
                    </a:p>
                    <a:p>
                      <a:r>
                        <a:rPr lang="en-US" sz="10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reports used to build near-real-time community intensity maps.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875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52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objectives, each with an identified technique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4F1EC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 real, verified dataset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the USGS NEIC significant-earthquake catalog (1965–2016, M5.5+) rather than a synthetic stand-in.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136392"/>
            <a:ext cx="4846320" cy="0"/>
          </a:xfrm>
          <a:prstGeom prst="line">
            <a:avLst/>
          </a:prstGeom>
          <a:noFill/>
          <a:ln w="9525">
            <a:solidFill>
              <a:srgbClr val="DAD6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278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9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FDSN/USGS catalog retrieval + data-quality filtering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4F1EC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647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discriminative features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774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temporal, depth-based, and magnitude-based features that separate alert-severity classes.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136392"/>
            <a:ext cx="4846320" cy="0"/>
          </a:xfrm>
          <a:prstGeom prst="line">
            <a:avLst/>
          </a:prstGeom>
          <a:noFill/>
          <a:ln w="9525">
            <a:solidFill>
              <a:srgbClr val="DAD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32278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9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Feature engineering + USGS magnitude-band labeling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4F1EC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87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24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alert severity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00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to assign incoming events to an alert tier for downstream notification.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559552"/>
            <a:ext cx="4846320" cy="0"/>
          </a:xfrm>
          <a:prstGeom prst="line">
            <a:avLst/>
          </a:prstGeom>
          <a:noFill/>
          <a:ln w="9525">
            <a:solidFill>
              <a:srgbClr val="DAD6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6509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9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Supervised multi-class classification (planned: RF / gradient boosting baseline)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40233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4F1EC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4187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D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224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under class imbalance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800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model with metrics suited to rare, high-severity events — not raw accuracy alone.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5559552"/>
            <a:ext cx="4846320" cy="0"/>
          </a:xfrm>
          <a:prstGeom prst="line">
            <a:avLst/>
          </a:prstGeom>
          <a:noFill/>
          <a:ln w="9525">
            <a:solidFill>
              <a:srgbClr val="DAD6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56509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C9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Precision/recall/F1 per class, stratified evaluation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USGS catalog, not synthetic data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</a:rPr>
              <a:t>10,994 </a:t>
            </a:r>
            <a:endParaRPr lang="en-US" sz="4000" dirty="0"/>
          </a:p>
          <a:p>
            <a:pPr marL="0" indent="0">
              <a:buNone/>
            </a:pPr>
            <a:r>
              <a:rPr lang="en-US" sz="1150" dirty="0">
                <a:solidFill>
                  <a:srgbClr val="B8BE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preprocessing earthquake records, 1965–2016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554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10,787</a:t>
            </a:r>
            <a:endParaRPr lang="en-US" sz="4000" dirty="0"/>
          </a:p>
          <a:p>
            <a:r>
              <a:rPr lang="en-US" sz="1200" dirty="0">
                <a:solidFill>
                  <a:srgbClr val="B8BE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earthquake records, 1965–2016</a:t>
            </a:r>
            <a:endParaRPr lang="en-US" sz="12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Alert_Level bands — derived from USGS magnitude classes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5852160" cy="22402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– 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 – 6.9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 – 7.9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5321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8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USGS NEIC · Earthquake Magnitude, Energy Release &amp; Shaking Intensity</a:t>
            </a:r>
            <a:endParaRPr lang="en-US" sz="900" dirty="0"/>
          </a:p>
        </p:txBody>
      </p:sp>
      <p:pic>
        <p:nvPicPr>
          <p:cNvPr id="9" name="Image 0" descr="global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00200"/>
            <a:ext cx="5074920" cy="28529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29400" y="457200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8B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distribution of catalog events — the pattern traces real tectonic plate boundaries (the “Ring of Fire” and mid-ocean ridges), confirming the data reflects genuine seismic activity.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PREPROCESSING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catalog to a model-ready, leakage-free split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335024" y="160020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044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0020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5176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true earthquakes — remove nuclear tests &amp; rock bursts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15768" y="1920240"/>
            <a:ext cx="320040" cy="0"/>
          </a:xfrm>
          <a:prstGeom prst="line">
            <a:avLst/>
          </a:prstGeom>
          <a:noFill/>
          <a:ln w="19050">
            <a:solidFill>
              <a:srgbClr val="D8D3C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47872" y="160020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1" name="Image 1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892" y="17602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61488" y="160020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" dirty="0"/>
          </a:p>
        </p:txBody>
      </p:sp>
      <p:sp>
        <p:nvSpPr>
          <p:cNvPr id="13" name="Text 9"/>
          <p:cNvSpPr txBox="1"/>
          <p:nvPr/>
        </p:nvSpPr>
        <p:spPr>
          <a:xfrm>
            <a:off x="2761488" y="233172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852928" y="265176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 &gt;70% missing; fill remaining with mode/median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928616" y="1920240"/>
            <a:ext cx="320040" cy="0"/>
          </a:xfrm>
          <a:prstGeom prst="line">
            <a:avLst/>
          </a:prstGeom>
          <a:noFill/>
          <a:ln w="19050">
            <a:solidFill>
              <a:srgbClr val="D8D3C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7" name="Image 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17602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974336" y="160020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" dirty="0"/>
          </a:p>
        </p:txBody>
      </p:sp>
      <p:sp>
        <p:nvSpPr>
          <p:cNvPr id="19" name="Text 14"/>
          <p:cNvSpPr txBox="1"/>
          <p:nvPr/>
        </p:nvSpPr>
        <p:spPr>
          <a:xfrm>
            <a:off x="4974336" y="233172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065776" y="265176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time-based + depth-category features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141464" y="1920240"/>
            <a:ext cx="320040" cy="0"/>
          </a:xfrm>
          <a:prstGeom prst="line">
            <a:avLst/>
          </a:prstGeom>
          <a:noFill/>
          <a:ln w="19050">
            <a:solidFill>
              <a:srgbClr val="D8D3C8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973568" y="1600200"/>
            <a:ext cx="640080" cy="64008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3" name="Image 3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588" y="17602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87184" y="160020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" dirty="0"/>
          </a:p>
        </p:txBody>
      </p:sp>
      <p:sp>
        <p:nvSpPr>
          <p:cNvPr id="25" name="Text 19"/>
          <p:cNvSpPr txBox="1"/>
          <p:nvPr/>
        </p:nvSpPr>
        <p:spPr>
          <a:xfrm>
            <a:off x="7187184" y="233172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278624" y="265176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Alert_Level from USGS magnitude bands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354312" y="1920240"/>
            <a:ext cx="320040" cy="0"/>
          </a:xfrm>
          <a:prstGeom prst="line">
            <a:avLst/>
          </a:prstGeom>
          <a:noFill/>
          <a:ln w="19050">
            <a:solidFill>
              <a:srgbClr val="D8D3C8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10186416" y="160020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9" name="Image 4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436" y="176022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400032" y="160020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" dirty="0"/>
          </a:p>
        </p:txBody>
      </p:sp>
      <p:sp>
        <p:nvSpPr>
          <p:cNvPr id="31" name="Text 24"/>
          <p:cNvSpPr txBox="1"/>
          <p:nvPr/>
        </p:nvSpPr>
        <p:spPr>
          <a:xfrm>
            <a:off x="9400032" y="233172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Scale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491472" y="265176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70/15/15 split, then StandardScaler (train-fit only)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Alert_Level distribution — full dataset (23,232 records)</a:t>
            </a:r>
            <a:endParaRPr lang="en-US" sz="125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457200" y="4343400"/>
          <a:ext cx="57607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Shape 27"/>
          <p:cNvSpPr/>
          <p:nvPr/>
        </p:nvSpPr>
        <p:spPr>
          <a:xfrm>
            <a:off x="6492240" y="397764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F4F1EC"/>
          </a:solidFill>
          <a:ln w="12700">
            <a:solidFill>
              <a:srgbClr val="E7E5E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720840" y="420624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7" name="Image 5" descr="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570" y="4331970"/>
            <a:ext cx="251460" cy="25146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360920" y="4279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is real, not a data flaw</a:t>
            </a:r>
            <a:endParaRPr lang="en-US" sz="1250" dirty="0"/>
          </a:p>
        </p:txBody>
      </p:sp>
      <p:sp>
        <p:nvSpPr>
          <p:cNvPr id="39" name="Text 30"/>
          <p:cNvSpPr txBox="1"/>
          <p:nvPr/>
        </p:nvSpPr>
        <p:spPr>
          <a:xfrm>
            <a:off x="6720840" y="466344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“Great” earthquakes (M8+) are genuinely rare — just 0.2% of catalog events. This will be handled at modeling time via class weighting and per-class precision/recall, evaluated in Review 2, rather than by discarding real events.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1095</Words>
  <Application>Microsoft Office PowerPoint</Application>
  <PresentationFormat>Widescreen</PresentationFormat>
  <Paragraphs>145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Priyanshu Jain</cp:lastModifiedBy>
  <cp:revision>3</cp:revision>
  <dcterms:created xsi:type="dcterms:W3CDTF">2026-08-30T16:32:20Z</dcterms:created>
  <dcterms:modified xsi:type="dcterms:W3CDTF">2026-08-30T18:18:24Z</dcterms:modified>
</cp:coreProperties>
</file>